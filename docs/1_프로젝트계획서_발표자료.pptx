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NanumSquare ExtraBold"/>
      <p:bold r:id="rId25"/>
    </p:embeddedFont>
    <p:embeddedFont>
      <p:font typeface="NanumSquare Regular"/>
      <p:regular r:id="rId26"/>
    </p:embeddedFont>
    <p:embeddedFont>
      <p:font typeface="NanumSquare Bold"/>
      <p:bold r:id="rId27"/>
    </p:embeddedFont>
    <p:embeddedFont>
      <p:font typeface="Pretendard Bold"/>
      <p:bold r:id="rId28"/>
    </p:embeddedFont>
    <p:embeddedFont>
      <p:font typeface="BM DoHyeon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26" Target="fonts/font2.fntdata" Type="http://schemas.openxmlformats.org/officeDocument/2006/relationships/font"/><Relationship Id="rId27" Target="fonts/font3.fntdata" Type="http://schemas.openxmlformats.org/officeDocument/2006/relationships/font"/><Relationship Id="rId28" Target="fonts/font4.fntdata" Type="http://schemas.openxmlformats.org/officeDocument/2006/relationships/font"/><Relationship Id="rId29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19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23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4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7.png" Type="http://schemas.openxmlformats.org/officeDocument/2006/relationships/image"/><Relationship Id="rId6" Target="../media/image2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28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31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32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33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16" Target="../media/image48.png" Type="http://schemas.openxmlformats.org/officeDocument/2006/relationships/image"/><Relationship Id="rId17" Target="../media/image49.png" Type="http://schemas.openxmlformats.org/officeDocument/2006/relationships/image"/><Relationship Id="rId18" Target="../media/image50.png" Type="http://schemas.openxmlformats.org/officeDocument/2006/relationships/image"/><Relationship Id="rId19" Target="../media/image51.png" Type="http://schemas.openxmlformats.org/officeDocument/2006/relationships/image"/><Relationship Id="rId2" Target="../media/image34.png" Type="http://schemas.openxmlformats.org/officeDocument/2006/relationships/image"/><Relationship Id="rId20" Target="../media/image52.png" Type="http://schemas.openxmlformats.org/officeDocument/2006/relationships/image"/><Relationship Id="rId21" Target="../media/image53.png" Type="http://schemas.openxmlformats.org/officeDocument/2006/relationships/image"/><Relationship Id="rId22" Target="../media/image54.png" Type="http://schemas.openxmlformats.org/officeDocument/2006/relationships/image"/><Relationship Id="rId23" Target="../media/image55.png" Type="http://schemas.openxmlformats.org/officeDocument/2006/relationships/image"/><Relationship Id="rId24" Target="../media/image56.png" Type="http://schemas.openxmlformats.org/officeDocument/2006/relationships/image"/><Relationship Id="rId25" Target="../media/image57.png" Type="http://schemas.openxmlformats.org/officeDocument/2006/relationships/image"/><Relationship Id="rId26" Target="../media/image58.png" Type="http://schemas.openxmlformats.org/officeDocument/2006/relationships/image"/><Relationship Id="rId27" Target="../media/image59.png" Type="http://schemas.openxmlformats.org/officeDocument/2006/relationships/image"/><Relationship Id="rId28" Target="../media/image60.png" Type="http://schemas.openxmlformats.org/officeDocument/2006/relationships/image"/><Relationship Id="rId29" Target="../media/image61.png" Type="http://schemas.openxmlformats.org/officeDocument/2006/relationships/image"/><Relationship Id="rId3" Target="../media/image35.png" Type="http://schemas.openxmlformats.org/officeDocument/2006/relationships/image"/><Relationship Id="rId30" Target="../media/image62.png" Type="http://schemas.openxmlformats.org/officeDocument/2006/relationships/image"/><Relationship Id="rId31" Target="../media/image63.png" Type="http://schemas.openxmlformats.org/officeDocument/2006/relationships/image"/><Relationship Id="rId32" Target="../media/image64.png" Type="http://schemas.openxmlformats.org/officeDocument/2006/relationships/image"/><Relationship Id="rId33" Target="../media/image65.png" Type="http://schemas.openxmlformats.org/officeDocument/2006/relationships/image"/><Relationship Id="rId34" Target="../media/image66.png" Type="http://schemas.openxmlformats.org/officeDocument/2006/relationships/image"/><Relationship Id="rId35" Target="../media/image67.png" Type="http://schemas.openxmlformats.org/officeDocument/2006/relationships/image"/><Relationship Id="rId36" Target="../media/image68.png" Type="http://schemas.openxmlformats.org/officeDocument/2006/relationships/image"/><Relationship Id="rId37" Target="../media/image69.png" Type="http://schemas.openxmlformats.org/officeDocument/2006/relationships/image"/><Relationship Id="rId38" Target="../media/image70.png" Type="http://schemas.openxmlformats.org/officeDocument/2006/relationships/image"/><Relationship Id="rId39" Target="../media/image71.png" Type="http://schemas.openxmlformats.org/officeDocument/2006/relationships/image"/><Relationship Id="rId4" Target="../media/image36.png" Type="http://schemas.openxmlformats.org/officeDocument/2006/relationships/image"/><Relationship Id="rId40" Target="../media/image72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77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78.png" Type="http://schemas.openxmlformats.org/officeDocument/2006/relationships/image"/><Relationship Id="rId12" Target="../media/image17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81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6.png" Type="http://schemas.openxmlformats.org/officeDocument/2006/relationships/image"/><Relationship Id="rId8" Target="../media/image82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55900" y="3695700"/>
            <a:ext cx="12776200" cy="1587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949700" y="3886200"/>
            <a:ext cx="103886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6500" b="false" i="false" u="none" strike="noStrike">
                <a:solidFill>
                  <a:srgbClr val="4F565C"/>
                </a:solidFill>
                <a:ea typeface="NanumSquare ExtraBold"/>
              </a:rPr>
              <a:t>머스타드</a:t>
            </a:r>
            <a:r>
              <a:rPr lang="en-US" sz="65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6500" b="false" i="false" u="none" strike="noStrike">
                <a:solidFill>
                  <a:srgbClr val="4F565C"/>
                </a:solidFill>
                <a:ea typeface="NanumSquare ExtraBold"/>
              </a:rPr>
              <a:t>키오스크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473700" y="7975600"/>
            <a:ext cx="73406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700" b="false" i="false" u="none" strike="noStrike">
                <a:solidFill>
                  <a:srgbClr val="FFFFFF"/>
                </a:solidFill>
                <a:ea typeface="NanumSquare Regular"/>
              </a:rPr>
              <a:t>소프트웨어공학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76500" y="7721600"/>
            <a:ext cx="2222500" cy="1498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FFFFF"/>
                </a:solidFill>
                <a:latin typeface="NanumSquare Regular"/>
              </a:rPr>
              <a:t>20212503 - </a:t>
            </a:r>
            <a:r>
              <a:rPr lang="ko-KR" sz="1900" b="false" i="false" u="none" strike="noStrike">
                <a:solidFill>
                  <a:srgbClr val="FFFFFF"/>
                </a:solidFill>
                <a:ea typeface="NanumSquare Regular"/>
              </a:rPr>
              <a:t>최주영</a:t>
            </a:r>
          </a:p>
          <a:p>
            <a:pPr algn="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FFFFF"/>
                </a:solidFill>
                <a:latin typeface="NanumSquare Regular"/>
              </a:rPr>
              <a:t>20212873 - </a:t>
            </a:r>
            <a:r>
              <a:rPr lang="ko-KR" sz="1900" b="false" i="false" u="none" strike="noStrike">
                <a:solidFill>
                  <a:srgbClr val="FFFFFF"/>
                </a:solidFill>
                <a:ea typeface="NanumSquare Regular"/>
              </a:rPr>
              <a:t>정형우</a:t>
            </a:r>
          </a:p>
          <a:p>
            <a:pPr algn="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FFFFF"/>
                </a:solidFill>
                <a:latin typeface="NanumSquare Regular"/>
              </a:rPr>
              <a:t>20212919 - </a:t>
            </a:r>
            <a:r>
              <a:rPr lang="ko-KR" sz="1900" b="false" i="false" u="none" strike="noStrike">
                <a:solidFill>
                  <a:srgbClr val="FFFFFF"/>
                </a:solidFill>
                <a:ea typeface="NanumSquare Regular"/>
              </a:rPr>
              <a:t>강지훈</a:t>
            </a:r>
          </a:p>
          <a:p>
            <a:pPr algn="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FFFFF"/>
                </a:solidFill>
                <a:latin typeface="NanumSquare Regular"/>
              </a:rPr>
              <a:t>20203040 - </a:t>
            </a:r>
            <a:r>
              <a:rPr lang="ko-KR" sz="1900" b="false" i="false" u="none" strike="noStrike">
                <a:solidFill>
                  <a:srgbClr val="FFFFFF"/>
                </a:solidFill>
                <a:ea typeface="NanumSquare Regular"/>
              </a:rPr>
              <a:t>이지훈</a:t>
            </a:r>
          </a:p>
          <a:p>
            <a:pPr algn="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FFFFF"/>
                </a:solidFill>
                <a:latin typeface="NanumSquare Regular"/>
              </a:rPr>
              <a:t>20211967 - </a:t>
            </a:r>
            <a:r>
              <a:rPr lang="ko-KR" sz="1900" b="false" i="false" u="none" strike="noStrike">
                <a:solidFill>
                  <a:srgbClr val="FFFFFF"/>
                </a:solidFill>
                <a:ea typeface="NanumSquare Regular"/>
              </a:rPr>
              <a:t>이태욱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581400" y="5092700"/>
            <a:ext cx="70866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3886200"/>
            <a:ext cx="4876800" cy="1117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374900" y="4127500"/>
            <a:ext cx="13970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목차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7200" y="4229100"/>
            <a:ext cx="406400" cy="41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5499100" y="4356100"/>
            <a:ext cx="317500" cy="177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24700" y="2730500"/>
            <a:ext cx="10477500" cy="127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15" id="15"/>
          <p:cNvSpPr txBox="true"/>
          <p:nvPr/>
        </p:nvSpPr>
        <p:spPr>
          <a:xfrm rot="0">
            <a:off x="7112000" y="1752600"/>
            <a:ext cx="1651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4F565C"/>
                </a:solidFill>
                <a:latin typeface="NanumSquare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93200" y="1828800"/>
            <a:ext cx="76327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주제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Regular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및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Regular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목표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24700" y="5092700"/>
            <a:ext cx="10477500" cy="127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19" id="19"/>
          <p:cNvSpPr txBox="true"/>
          <p:nvPr/>
        </p:nvSpPr>
        <p:spPr>
          <a:xfrm rot="0">
            <a:off x="7112000" y="4191000"/>
            <a:ext cx="1651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4F565C"/>
                </a:solidFill>
                <a:latin typeface="NanumSquare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93200" y="4267200"/>
            <a:ext cx="76327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팀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Regular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구성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24700" y="3911600"/>
            <a:ext cx="10477500" cy="127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3" id="23"/>
          <p:cNvSpPr txBox="true"/>
          <p:nvPr/>
        </p:nvSpPr>
        <p:spPr>
          <a:xfrm rot="0">
            <a:off x="7112000" y="2971800"/>
            <a:ext cx="1651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4F565C"/>
                </a:solidFill>
                <a:latin typeface="NanumSquare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93200" y="3048000"/>
            <a:ext cx="76327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시장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Regular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조사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48500" y="8648700"/>
            <a:ext cx="10629900" cy="127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7" id="27"/>
          <p:cNvSpPr txBox="true"/>
          <p:nvPr/>
        </p:nvSpPr>
        <p:spPr>
          <a:xfrm rot="0">
            <a:off x="7112000" y="7835900"/>
            <a:ext cx="1651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4F565C"/>
                </a:solidFill>
                <a:latin typeface="NanumSquare Bold"/>
              </a:rPr>
              <a:t>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93200" y="7912100"/>
            <a:ext cx="76327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비용산정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24700" y="7454900"/>
            <a:ext cx="10477500" cy="127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31" id="31"/>
          <p:cNvSpPr txBox="true"/>
          <p:nvPr/>
        </p:nvSpPr>
        <p:spPr>
          <a:xfrm rot="0">
            <a:off x="7112000" y="6616700"/>
            <a:ext cx="1651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4F565C"/>
                </a:solidFill>
                <a:latin typeface="NanumSquare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93200" y="6692900"/>
            <a:ext cx="76327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4F565C"/>
                </a:solidFill>
                <a:latin typeface="NanumSquare Regular"/>
              </a:rPr>
              <a:t>WBS &amp;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간트차트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6273800"/>
            <a:ext cx="10477500" cy="127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35" id="35"/>
          <p:cNvSpPr txBox="true"/>
          <p:nvPr/>
        </p:nvSpPr>
        <p:spPr>
          <a:xfrm rot="0">
            <a:off x="7112000" y="5397500"/>
            <a:ext cx="1651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4F565C"/>
                </a:solidFill>
                <a:latin typeface="NanumSquare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93200" y="5473700"/>
            <a:ext cx="76327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개발언어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Regular"/>
              </a:rPr>
              <a:t> &amp;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Regular"/>
              </a:rPr>
              <a:t>생명주기</a:t>
            </a:r>
          </a:p>
        </p:txBody>
      </p:sp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59000" y="-3200400"/>
            <a:ext cx="19050000" cy="2018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23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40100" y="6731000"/>
            <a:ext cx="5715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75100" y="6591300"/>
            <a:ext cx="1035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주제</a:t>
            </a:r>
            <a:r>
              <a:rPr lang="en-US" sz="48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및</a:t>
            </a:r>
            <a:r>
              <a:rPr lang="en-US" sz="48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목표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271000" y="4203700"/>
            <a:ext cx="82423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296400" y="2057400"/>
            <a:ext cx="70104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4F565C"/>
              </a:buClr>
              <a:buFont typeface="Arial"/>
              <a:buChar char="●"/>
            </a:pPr>
            <a: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  <a:t>프로젝트</a:t>
            </a:r>
            <a:r>
              <a:rPr lang="en-US" sz="2400" b="tru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  <a:t>주제</a:t>
            </a:r>
            <a:b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</a:b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가게의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매출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&amp;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수익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확인</a:t>
            </a: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키오스크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(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주문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-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태블릿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PC)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관리자가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관리한다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.</a:t>
            </a:r>
          </a:p>
        </p:txBody>
      </p:sp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4025900"/>
            <a:ext cx="6985000" cy="1117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616200" y="4254500"/>
            <a:ext cx="51562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AutoNum type="arabicPeriod" startAt="1"/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주제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및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목표</a:t>
            </a:r>
          </a:p>
        </p:txBody>
      </p:sp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3900" y="4381500"/>
            <a:ext cx="406400" cy="419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835900" y="4495800"/>
            <a:ext cx="317500" cy="177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9296400" y="4813300"/>
            <a:ext cx="6819900" cy="298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4F565C"/>
              </a:buClr>
              <a:buFont typeface="Arial"/>
              <a:buChar char="●"/>
            </a:pPr>
            <a: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  <a:t>프로젝트</a:t>
            </a:r>
            <a:r>
              <a:rPr lang="en-US" sz="2400" b="tru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  <a:t>목표</a:t>
            </a:r>
            <a:b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</a:b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관리자가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메뉴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수정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삭제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추가를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하게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한다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.</a:t>
            </a:r>
            <a:b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</a:b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관리자가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월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단위로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매출을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확인한다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.</a:t>
            </a:r>
            <a:b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</a:b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사용자가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메뉴를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주문하고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주문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목록을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확인과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총액을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확인하고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결제를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요청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할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수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있다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-3136900"/>
            <a:ext cx="19621500" cy="20091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23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40100" y="6731000"/>
            <a:ext cx="5715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75100" y="6591300"/>
            <a:ext cx="1035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시장</a:t>
            </a:r>
            <a:r>
              <a:rPr lang="en-US" sz="48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조사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00300" y="4229100"/>
            <a:ext cx="5537200" cy="36830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6400" y="2603500"/>
            <a:ext cx="6985000" cy="1117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717800" y="2819400"/>
            <a:ext cx="51562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AutoNum type="arabicPeriod" startAt="1"/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시장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조사</a:t>
            </a:r>
          </a:p>
        </p:txBody>
      </p:sp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82800" y="2946400"/>
            <a:ext cx="406400" cy="419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924800" y="3073400"/>
            <a:ext cx="317500" cy="177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144000" y="2705100"/>
            <a:ext cx="80645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올해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4000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억대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?...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키오스크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시장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급성장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Bold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96400" y="4178300"/>
            <a:ext cx="8001000" cy="228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농림축산식품부의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외식업체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경영실태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조사에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따르면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2021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년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기준으로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국내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음식점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중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4.5%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가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키오스크를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사용하는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것으로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나타났다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.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사용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비율은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일반음식점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중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기타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외국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음식점업이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15.2%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가장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높게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나타났다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.</a:t>
            </a:r>
            <a:r>
              <a:rPr lang="en-US" sz="1200" b="false" i="false" u="none" strike="noStrike">
                <a:solidFill>
                  <a:srgbClr val="000000"/>
                </a:solidFill>
                <a:latin typeface="NanumSquare ExtraBold"/>
              </a:rPr>
              <a:t>2023</a:t>
            </a:r>
            <a:r>
              <a:rPr lang="en-US" sz="1200" b="false" i="false" u="none" strike="noStrike">
                <a:solidFill>
                  <a:srgbClr val="000000"/>
                </a:solidFill>
                <a:latin typeface="NanumSquare ExtraBold"/>
              </a:rPr>
              <a:t>. 9. 1.</a:t>
            </a:r>
          </a:p>
        </p:txBody>
      </p: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3898900"/>
            <a:ext cx="3898900" cy="389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18200" y="3898900"/>
            <a:ext cx="3898900" cy="3898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2603500"/>
            <a:ext cx="6985000" cy="1117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717800" y="2819400"/>
            <a:ext cx="51562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AutoNum type="arabicPeriod" startAt="1"/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시장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조사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82800" y="2946400"/>
            <a:ext cx="406400" cy="41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7924800" y="3073400"/>
            <a:ext cx="317500" cy="177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287000" y="3975100"/>
            <a:ext cx="6896100" cy="405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소비자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24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설문조사에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따르면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소비자의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46.6%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는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이용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중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불편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피해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경험이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있다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답했고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조사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대상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업종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중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이용시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가장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많이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피해를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봤다고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답한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업종은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 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외식업인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것으로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알려졌습니다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. </a:t>
            </a:r>
          </a:p>
          <a:p>
            <a:pPr algn="l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한국소비자원의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2022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년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이용실태조사에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따르면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고객의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84.8%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가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'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기능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개선이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필요하다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'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고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답했습니다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. 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705100"/>
            <a:ext cx="80645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키오스크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피해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사례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Bold"/>
              </a:rPr>
              <a:t/>
            </a:r>
          </a:p>
        </p:txBody>
      </p:sp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4076700"/>
            <a:ext cx="6172200" cy="4114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" y="2603500"/>
            <a:ext cx="6985000" cy="1117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717800" y="2819400"/>
            <a:ext cx="51562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AutoNum type="arabicPeriod" startAt="1"/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시장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조사</a:t>
            </a:r>
          </a:p>
        </p:txBody>
      </p: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82800" y="2946400"/>
            <a:ext cx="406400" cy="419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924800" y="3073400"/>
            <a:ext cx="317500" cy="177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144000" y="3810000"/>
            <a:ext cx="7175500" cy="317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-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업종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브랜드마다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다른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주문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순서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조작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방법의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표준화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-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기기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이용에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도움을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줄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있는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직원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배치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호출벨을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설치하는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등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편의성을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개선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-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키오스크의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기능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개선이</a:t>
            </a:r>
            <a:r>
              <a:rPr lang="en-US" sz="2900" b="false" i="false" u="none" strike="noStrike">
                <a:solidFill>
                  <a:srgbClr val="000000"/>
                </a:solidFill>
                <a:latin typeface="NanumSquare ExtraBold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NanumSquare ExtraBold"/>
              </a:rPr>
              <a:t>필요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2705100"/>
            <a:ext cx="80645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키오스크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800" b="false" i="false" u="none" strike="noStrike">
                <a:solidFill>
                  <a:srgbClr val="000000"/>
                </a:solidFill>
                <a:ea typeface="Pretendard Bold"/>
              </a:rPr>
              <a:t>개선</a:t>
            </a:r>
            <a:r>
              <a:rPr lang="en-US" sz="3800" b="false" i="false" u="none" strike="noStrike">
                <a:solidFill>
                  <a:srgbClr val="000000"/>
                </a:solidFill>
                <a:latin typeface="Pretendard Bold"/>
              </a:rPr>
              <a:t>?</a:t>
            </a:r>
          </a:p>
          <a:p>
            <a:pPr algn="l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Bold"/>
              </a:rPr>
              <a:t/>
            </a:r>
          </a:p>
        </p:txBody>
      </p:sp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-3136900"/>
            <a:ext cx="19634200" cy="20078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23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40100" y="6731000"/>
            <a:ext cx="5715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75100" y="6591300"/>
            <a:ext cx="1035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팀</a:t>
            </a:r>
            <a:r>
              <a:rPr lang="en-US" sz="48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구성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6400" y="2603500"/>
            <a:ext cx="6985000" cy="1117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717800" y="2819400"/>
            <a:ext cx="51562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99600"/>
              </a:lnSpc>
              <a:buAutoNum type="arabicPeriod" startAt="1"/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팀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구성</a:t>
            </a:r>
          </a:p>
        </p:txBody>
      </p: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2946400"/>
            <a:ext cx="406400" cy="419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924800" y="3073400"/>
            <a:ext cx="317500" cy="177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35200" y="5118100"/>
            <a:ext cx="5867400" cy="1778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96400" y="1968500"/>
            <a:ext cx="7848600" cy="6299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184400" y="5600700"/>
            <a:ext cx="59563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500" b="false" i="false" u="none" strike="noStrike">
                <a:solidFill>
                  <a:srgbClr val="4F565C"/>
                </a:solidFill>
                <a:ea typeface="NanumSquare Bold"/>
              </a:rPr>
              <a:t>민주적</a:t>
            </a:r>
            <a:r>
              <a:rPr lang="en-US" sz="4500" b="false" i="false" u="none" strike="noStrike">
                <a:solidFill>
                  <a:srgbClr val="4F565C"/>
                </a:solidFill>
                <a:latin typeface="NanumSquare Bold"/>
              </a:rPr>
              <a:t> </a:t>
            </a:r>
            <a:r>
              <a:rPr lang="ko-KR" sz="4500" b="false" i="false" u="none" strike="noStrike">
                <a:solidFill>
                  <a:srgbClr val="4F565C"/>
                </a:solidFill>
                <a:ea typeface="NanumSquare Bold"/>
              </a:rPr>
              <a:t>팀</a:t>
            </a:r>
            <a:r>
              <a:rPr lang="en-US" sz="4500" b="false" i="false" u="none" strike="noStrike">
                <a:solidFill>
                  <a:srgbClr val="4F565C"/>
                </a:solidFill>
                <a:latin typeface="NanumSquare Bold"/>
              </a:rPr>
              <a:t> </a:t>
            </a:r>
            <a:r>
              <a:rPr lang="ko-KR" sz="4500" b="false" i="false" u="none" strike="noStrike">
                <a:solidFill>
                  <a:srgbClr val="4F565C"/>
                </a:solidFill>
                <a:ea typeface="NanumSquare Bold"/>
              </a:rPr>
              <a:t>구성</a:t>
            </a:r>
          </a:p>
        </p:txBody>
      </p: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-3136900"/>
            <a:ext cx="19875500" cy="20078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23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40100" y="6731000"/>
            <a:ext cx="5715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75100" y="6591300"/>
            <a:ext cx="1035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개발언어</a:t>
            </a:r>
            <a:r>
              <a:rPr lang="en-US" sz="4800" b="false" i="false" u="none" strike="noStrike">
                <a:solidFill>
                  <a:srgbClr val="4F565C"/>
                </a:solidFill>
                <a:latin typeface="NanumSquare ExtraBold"/>
              </a:rPr>
              <a:t> &amp; </a:t>
            </a: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생명주기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5000" y="4953000"/>
            <a:ext cx="167259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118600" y="6578600"/>
            <a:ext cx="6692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Python  /  MySQL</a:t>
            </a:r>
          </a:p>
        </p:txBody>
      </p:sp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6248400"/>
            <a:ext cx="6985000" cy="1117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578100" y="6489700"/>
            <a:ext cx="51562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개발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언어</a:t>
            </a:r>
          </a:p>
        </p:txBody>
      </p:sp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3900" y="6591300"/>
            <a:ext cx="406400" cy="419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835900" y="6718300"/>
            <a:ext cx="317500" cy="177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9144000" y="2019300"/>
            <a:ext cx="7683500" cy="2628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4F565C"/>
              </a:buClr>
              <a:buFont typeface="Arial"/>
              <a:buChar char="●"/>
            </a:pPr>
            <a:r>
              <a:rPr lang="en-US" sz="2400" b="true" i="false" u="none" strike="noStrike">
                <a:solidFill>
                  <a:srgbClr val="4F565C"/>
                </a:solidFill>
                <a:latin typeface="NanumSquare ExtraBold"/>
              </a:rPr>
              <a:t>UP </a:t>
            </a:r>
            <a: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  <a:t>모델</a:t>
            </a:r>
            <a:br>
              <a:rPr lang="ko-KR" sz="2400" b="true" i="false" u="none" strike="noStrike">
                <a:solidFill>
                  <a:srgbClr val="4F565C"/>
                </a:solidFill>
                <a:ea typeface="NanumSquare ExtraBold"/>
              </a:rPr>
            </a:b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신상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가게이기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때문에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아직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요구사항이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명확하지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않아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,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매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기능을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사용해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보면서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고객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(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관리자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)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으로부터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피드백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받으며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지속적으로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개발하기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위한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UP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모델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선정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.</a:t>
            </a:r>
            <a:b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</a:br>
          </a:p>
          <a:p>
            <a:pPr algn="l" lvl="1" indent="-342900" marL="647700">
              <a:lnSpc>
                <a:spcPct val="99600"/>
              </a:lnSpc>
              <a:buClr>
                <a:srgbClr val="4F565C"/>
              </a:buClr>
              <a:buFont typeface="Arial"/>
              <a:buChar char="○"/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고객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(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관리자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)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의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수정사항이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있을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때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받아들이기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용이함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2578100"/>
            <a:ext cx="6985000" cy="11176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78100" y="2819400"/>
            <a:ext cx="51562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생명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주기</a:t>
            </a:r>
          </a:p>
        </p:txBody>
      </p: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3900" y="2933700"/>
            <a:ext cx="406400" cy="419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835900" y="3048000"/>
            <a:ext cx="317500" cy="1778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-3136900"/>
            <a:ext cx="19710400" cy="20078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23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40100" y="6731000"/>
            <a:ext cx="5715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75100" y="6591300"/>
            <a:ext cx="1035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800" b="false" i="false" u="none" strike="noStrike">
                <a:solidFill>
                  <a:srgbClr val="4F565C"/>
                </a:solidFill>
                <a:latin typeface="NanumSquare ExtraBold"/>
              </a:rPr>
              <a:t>WBS &amp; </a:t>
            </a: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간트차트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636000" y="1282700"/>
            <a:ext cx="520700" cy="76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1549400"/>
            <a:ext cx="14516100" cy="76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97500" y="292100"/>
            <a:ext cx="6858000" cy="762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42000" y="330200"/>
            <a:ext cx="6019800" cy="67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ko-KR" sz="3800" b="false" i="true" u="none" strike="noStrike">
                <a:solidFill>
                  <a:srgbClr val="41CC93"/>
                </a:solidFill>
                <a:ea typeface="BM DoHyeon"/>
              </a:rPr>
              <a:t>머스타드</a:t>
            </a:r>
            <a:r>
              <a:rPr lang="en-US" sz="3800" b="false" i="true" u="none" strike="noStrike">
                <a:solidFill>
                  <a:srgbClr val="41CC93"/>
                </a:solidFill>
                <a:latin typeface="BM DoHyeon"/>
              </a:rPr>
              <a:t> </a:t>
            </a:r>
            <a:r>
              <a:rPr lang="ko-KR" sz="3800" b="false" i="true" u="none" strike="noStrike">
                <a:solidFill>
                  <a:srgbClr val="41CC93"/>
                </a:solidFill>
                <a:ea typeface="BM DoHyeon"/>
              </a:rPr>
              <a:t>키오스크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1917700"/>
            <a:ext cx="1054100" cy="725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09600" y="1879600"/>
            <a:ext cx="685800" cy="762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2300" y="1714500"/>
            <a:ext cx="1587500" cy="533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06500" y="1828800"/>
            <a:ext cx="1028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BM DoHyeon"/>
              </a:rPr>
              <a:t>초기계획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" y="1841500"/>
            <a:ext cx="254000" cy="24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16200" y="4330700"/>
            <a:ext cx="800100" cy="914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14600" y="4292600"/>
            <a:ext cx="1219200" cy="88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2882900"/>
            <a:ext cx="1435100" cy="508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130300" y="2984500"/>
            <a:ext cx="13335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주제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및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목표설정</a:t>
            </a:r>
          </a:p>
        </p:txBody>
      </p:sp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4064000"/>
            <a:ext cx="1435100" cy="508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130300" y="4165600"/>
            <a:ext cx="13335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팀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구성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5245100"/>
            <a:ext cx="1435100" cy="508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130300" y="53467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생명주기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결정</a:t>
            </a:r>
          </a:p>
        </p:txBody>
      </p:sp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6426200"/>
            <a:ext cx="1435100" cy="508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30300" y="6527800"/>
            <a:ext cx="13335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언어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설정</a:t>
            </a:r>
          </a:p>
        </p:txBody>
      </p: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7607300"/>
            <a:ext cx="1435100" cy="5080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30300" y="7708900"/>
            <a:ext cx="13335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시장분석</a:t>
            </a:r>
          </a:p>
        </p:txBody>
      </p:sp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8788400"/>
            <a:ext cx="1435100" cy="508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130300" y="87757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WBS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,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상세일정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43200" y="4089400"/>
            <a:ext cx="1435100" cy="5080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2794000" y="40894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인원설정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,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역할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선정</a:t>
            </a:r>
          </a:p>
        </p:txBody>
      </p:sp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43200" y="5016500"/>
            <a:ext cx="1435100" cy="508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2794000" y="51308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팀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구조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결정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149600" y="1854200"/>
            <a:ext cx="292100" cy="279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5626100" y="4305300"/>
            <a:ext cx="5524500" cy="762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62900" y="1701800"/>
            <a:ext cx="1587500" cy="533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216900" y="1803400"/>
            <a:ext cx="190500" cy="317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34400" y="1816100"/>
            <a:ext cx="1028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BM DoHyeon"/>
              </a:rPr>
              <a:t>상세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8445500" y="3238500"/>
            <a:ext cx="850900" cy="63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7594600" y="4940300"/>
            <a:ext cx="25400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7721600" y="8407400"/>
            <a:ext cx="2159000" cy="762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66100" y="2590800"/>
            <a:ext cx="1435100" cy="5080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8204200" y="26924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상세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설계</a:t>
            </a:r>
          </a:p>
        </p:txBody>
      </p:sp>
      <p:grpSp>
        <p:nvGrpSpPr>
          <p:cNvPr name="Group 49" id="4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77300" y="3454400"/>
            <a:ext cx="431800" cy="76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66200" y="3263900"/>
            <a:ext cx="1435100" cy="508000"/>
          </a:xfrm>
          <a:prstGeom prst="rect">
            <a:avLst/>
          </a:prstGeom>
        </p:spPr>
      </p:pic>
      <p:sp>
        <p:nvSpPr>
          <p:cNvPr name="TextBox 52" id="52"/>
          <p:cNvSpPr txBox="true"/>
          <p:nvPr/>
        </p:nvSpPr>
        <p:spPr>
          <a:xfrm rot="0">
            <a:off x="9017000" y="32639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사용자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UI/UX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설계</a:t>
            </a:r>
          </a:p>
        </p:txBody>
      </p:sp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877300" y="5295900"/>
            <a:ext cx="431800" cy="762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66200" y="5092700"/>
            <a:ext cx="1435100" cy="5080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9017000" y="52070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DB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설계</a:t>
            </a:r>
          </a:p>
        </p:txBody>
      </p:sp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64600" y="6210300"/>
            <a:ext cx="431800" cy="762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78900" y="6007100"/>
            <a:ext cx="1435100" cy="5080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9017000" y="60071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클래스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다이어그램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77300" y="4381500"/>
            <a:ext cx="431800" cy="762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91600" y="4178300"/>
            <a:ext cx="1435100" cy="508000"/>
          </a:xfrm>
          <a:prstGeom prst="rect">
            <a:avLst/>
          </a:prstGeom>
        </p:spPr>
      </p:pic>
      <p:sp>
        <p:nvSpPr>
          <p:cNvPr name="TextBox 64" id="64"/>
          <p:cNvSpPr txBox="true"/>
          <p:nvPr/>
        </p:nvSpPr>
        <p:spPr>
          <a:xfrm rot="0">
            <a:off x="9042400" y="42926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아키텍처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 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정의</a:t>
            </a:r>
          </a:p>
        </p:txBody>
      </p:sp>
      <p:grpSp>
        <p:nvGrpSpPr>
          <p:cNvPr name="Group 65" id="6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6" id="6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66100" y="6908800"/>
            <a:ext cx="1435100" cy="508000"/>
          </a:xfrm>
          <a:prstGeom prst="rect">
            <a:avLst/>
          </a:prstGeom>
        </p:spPr>
      </p:pic>
      <p:sp>
        <p:nvSpPr>
          <p:cNvPr name="TextBox 67" id="67"/>
          <p:cNvSpPr txBox="true"/>
          <p:nvPr/>
        </p:nvSpPr>
        <p:spPr>
          <a:xfrm rot="0">
            <a:off x="8204200" y="70231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리스크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상세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01100" y="7924800"/>
            <a:ext cx="431800" cy="762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02700" y="7721600"/>
            <a:ext cx="1435100" cy="5080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8953500" y="77089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프로젝트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측면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위험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01100" y="8699500"/>
            <a:ext cx="431800" cy="762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02700" y="8496300"/>
            <a:ext cx="1435100" cy="508000"/>
          </a:xfrm>
          <a:prstGeom prst="rect">
            <a:avLst/>
          </a:prstGeom>
        </p:spPr>
      </p:pic>
      <p:sp>
        <p:nvSpPr>
          <p:cNvPr name="TextBox 75" id="75"/>
          <p:cNvSpPr txBox="true"/>
          <p:nvPr/>
        </p:nvSpPr>
        <p:spPr>
          <a:xfrm rot="0">
            <a:off x="8953500" y="84836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기술적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측면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위험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01100" y="9474200"/>
            <a:ext cx="431800" cy="762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15400" y="9271000"/>
            <a:ext cx="1435100" cy="508000"/>
          </a:xfrm>
          <a:prstGeom prst="rect">
            <a:avLst/>
          </a:prstGeom>
        </p:spPr>
      </p:pic>
      <p:sp>
        <p:nvSpPr>
          <p:cNvPr name="TextBox 79" id="79"/>
          <p:cNvSpPr txBox="true"/>
          <p:nvPr/>
        </p:nvSpPr>
        <p:spPr>
          <a:xfrm rot="0">
            <a:off x="8953500" y="92583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사용자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측면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위험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pic>
        <p:nvPicPr>
          <p:cNvPr name="Picture 80" id="8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3695700" y="5397500"/>
            <a:ext cx="3670300" cy="762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1828800" y="6070600"/>
            <a:ext cx="6350000" cy="635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3962400" y="1778000"/>
            <a:ext cx="482600" cy="762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721100" y="1701800"/>
            <a:ext cx="1574800" cy="533400"/>
          </a:xfrm>
          <a:prstGeom prst="rect">
            <a:avLst/>
          </a:prstGeom>
        </p:spPr>
      </p:pic>
      <p:sp>
        <p:nvSpPr>
          <p:cNvPr name="TextBox 84" id="84"/>
          <p:cNvSpPr txBox="true"/>
          <p:nvPr/>
        </p:nvSpPr>
        <p:spPr>
          <a:xfrm rot="0">
            <a:off x="4292600" y="1803400"/>
            <a:ext cx="10287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1600" b="false" i="false" u="none" strike="noStrike">
                <a:solidFill>
                  <a:srgbClr val="FFFFFF"/>
                </a:solidFill>
                <a:ea typeface="BM DoHyeon"/>
              </a:rPr>
              <a:t>도입</a:t>
            </a:r>
          </a:p>
        </p:txBody>
      </p:sp>
      <p:pic>
        <p:nvPicPr>
          <p:cNvPr name="Picture 85" id="8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4699000" y="1727200"/>
            <a:ext cx="1028700" cy="11684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26000" y="2628900"/>
            <a:ext cx="1435100" cy="508000"/>
          </a:xfrm>
          <a:prstGeom prst="rect">
            <a:avLst/>
          </a:prstGeom>
        </p:spPr>
      </p:pic>
      <p:sp>
        <p:nvSpPr>
          <p:cNvPr name="TextBox 88" id="88"/>
          <p:cNvSpPr txBox="true"/>
          <p:nvPr/>
        </p:nvSpPr>
        <p:spPr>
          <a:xfrm rot="0">
            <a:off x="4876800" y="27305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요구사항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grpSp>
        <p:nvGrpSpPr>
          <p:cNvPr name="Group 89" id="8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0" id="9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016500" y="3746500"/>
            <a:ext cx="1066800" cy="889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5257800" y="3543300"/>
            <a:ext cx="1422400" cy="508000"/>
          </a:xfrm>
          <a:prstGeom prst="rect">
            <a:avLst/>
          </a:prstGeom>
        </p:spPr>
      </p:pic>
      <p:sp>
        <p:nvSpPr>
          <p:cNvPr name="TextBox 92" id="92"/>
          <p:cNvSpPr txBox="true"/>
          <p:nvPr/>
        </p:nvSpPr>
        <p:spPr>
          <a:xfrm rot="0">
            <a:off x="5308600" y="3632200"/>
            <a:ext cx="13335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유스케이스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grpSp>
        <p:nvGrpSpPr>
          <p:cNvPr name="Group 93" id="9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4" id="9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003800" y="9232900"/>
            <a:ext cx="431800" cy="762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18100" y="9029700"/>
            <a:ext cx="1435100" cy="508000"/>
          </a:xfrm>
          <a:prstGeom prst="rect">
            <a:avLst/>
          </a:prstGeom>
        </p:spPr>
      </p:pic>
      <p:sp>
        <p:nvSpPr>
          <p:cNvPr name="TextBox 96" id="96"/>
          <p:cNvSpPr txBox="true"/>
          <p:nvPr/>
        </p:nvSpPr>
        <p:spPr>
          <a:xfrm rot="0">
            <a:off x="5168900" y="90297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실현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가능성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,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비용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평가</a:t>
            </a:r>
          </a:p>
        </p:txBody>
      </p:sp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5524500" y="4610100"/>
            <a:ext cx="431800" cy="762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626100" y="4419600"/>
            <a:ext cx="1435100" cy="508000"/>
          </a:xfrm>
          <a:prstGeom prst="rect">
            <a:avLst/>
          </a:prstGeom>
        </p:spPr>
      </p:pic>
      <p:sp>
        <p:nvSpPr>
          <p:cNvPr name="TextBox 100" id="100"/>
          <p:cNvSpPr txBox="true"/>
          <p:nvPr/>
        </p:nvSpPr>
        <p:spPr>
          <a:xfrm rot="0">
            <a:off x="5664200" y="44069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UseCase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다이어그램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5524500" y="5486400"/>
            <a:ext cx="431800" cy="762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626100" y="5295900"/>
            <a:ext cx="1435100" cy="508000"/>
          </a:xfrm>
          <a:prstGeom prst="rect">
            <a:avLst/>
          </a:prstGeom>
        </p:spPr>
      </p:pic>
      <p:sp>
        <p:nvSpPr>
          <p:cNvPr name="TextBox 104" id="104"/>
          <p:cNvSpPr txBox="true"/>
          <p:nvPr/>
        </p:nvSpPr>
        <p:spPr>
          <a:xfrm rot="0">
            <a:off x="5664200" y="54102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기술서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grpSp>
        <p:nvGrpSpPr>
          <p:cNvPr name="Group 105" id="10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6" id="10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5524500" y="6375400"/>
            <a:ext cx="431800" cy="762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626100" y="6172200"/>
            <a:ext cx="1435100" cy="508000"/>
          </a:xfrm>
          <a:prstGeom prst="rect">
            <a:avLst/>
          </a:prstGeom>
        </p:spPr>
      </p:pic>
      <p:sp>
        <p:nvSpPr>
          <p:cNvPr name="TextBox 108" id="108"/>
          <p:cNvSpPr txBox="true"/>
          <p:nvPr/>
        </p:nvSpPr>
        <p:spPr>
          <a:xfrm rot="0">
            <a:off x="5676900" y="6299200"/>
            <a:ext cx="13335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400" b="false" i="false" u="none" strike="noStrike">
                <a:solidFill>
                  <a:srgbClr val="FFFFFF"/>
                </a:solidFill>
                <a:ea typeface="NanumSquare ExtraBold"/>
              </a:rPr>
              <a:t>기능</a:t>
            </a:r>
            <a:r>
              <a:rPr lang="en-US" sz="1400" b="false" i="false" u="none" strike="noStrike">
                <a:solidFill>
                  <a:srgbClr val="FFFFFF"/>
                </a:solidFill>
                <a:latin typeface="NanumSquare ExtraBold"/>
              </a:rPr>
              <a:t>, </a:t>
            </a:r>
            <a:r>
              <a:rPr lang="ko-KR" sz="1400" b="false" i="false" u="none" strike="noStrike">
                <a:solidFill>
                  <a:srgbClr val="FFFFFF"/>
                </a:solidFill>
                <a:ea typeface="NanumSquare ExtraBold"/>
              </a:rPr>
              <a:t>비기능</a:t>
            </a:r>
            <a:r>
              <a:rPr lang="en-US" sz="1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400" b="false" i="false" u="none" strike="noStrike">
                <a:solidFill>
                  <a:srgbClr val="FFFFFF"/>
                </a:solidFill>
                <a:ea typeface="NanumSquare ExtraBold"/>
              </a:rPr>
              <a:t>분류</a:t>
            </a:r>
          </a:p>
        </p:txBody>
      </p:sp>
      <p:grpSp>
        <p:nvGrpSpPr>
          <p:cNvPr name="Group 109" id="10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0" id="11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003800" y="8318500"/>
            <a:ext cx="431800" cy="762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18100" y="8115300"/>
            <a:ext cx="1435100" cy="508000"/>
          </a:xfrm>
          <a:prstGeom prst="rect">
            <a:avLst/>
          </a:prstGeom>
        </p:spPr>
      </p:pic>
      <p:sp>
        <p:nvSpPr>
          <p:cNvPr name="TextBox 112" id="112"/>
          <p:cNvSpPr txBox="true"/>
          <p:nvPr/>
        </p:nvSpPr>
        <p:spPr>
          <a:xfrm rot="0">
            <a:off x="5168900" y="82169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DB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기능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분석</a:t>
            </a:r>
          </a:p>
        </p:txBody>
      </p:sp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5524500" y="7251700"/>
            <a:ext cx="431800" cy="762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626100" y="7061200"/>
            <a:ext cx="1435100" cy="508000"/>
          </a:xfrm>
          <a:prstGeom prst="rect">
            <a:avLst/>
          </a:prstGeom>
        </p:spPr>
      </p:pic>
      <p:sp>
        <p:nvSpPr>
          <p:cNvPr name="TextBox 116" id="116"/>
          <p:cNvSpPr txBox="true"/>
          <p:nvPr/>
        </p:nvSpPr>
        <p:spPr>
          <a:xfrm rot="0">
            <a:off x="5676900" y="7073900"/>
            <a:ext cx="1333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400" b="false" i="false" u="none" strike="noStrike">
                <a:solidFill>
                  <a:srgbClr val="FFFFFF"/>
                </a:solidFill>
                <a:ea typeface="NanumSquare ExtraBold"/>
              </a:rPr>
              <a:t>요구사항</a:t>
            </a:r>
          </a:p>
          <a:p>
            <a:pPr algn="ctr" lvl="0">
              <a:lnSpc>
                <a:spcPct val="98355"/>
              </a:lnSpc>
            </a:pPr>
            <a:r>
              <a:rPr lang="ko-KR" sz="1400" b="false" i="false" u="none" strike="noStrike">
                <a:solidFill>
                  <a:srgbClr val="FFFFFF"/>
                </a:solidFill>
                <a:ea typeface="NanumSquare ExtraBold"/>
              </a:rPr>
              <a:t>명세서</a:t>
            </a:r>
            <a:r>
              <a:rPr lang="en-US" sz="1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4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pic>
        <p:nvPicPr>
          <p:cNvPr name="Picture 117" id="11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5400000">
            <a:off x="10731500" y="2654300"/>
            <a:ext cx="2235200" cy="76200"/>
          </a:xfrm>
          <a:prstGeom prst="rect">
            <a:avLst/>
          </a:prstGeom>
        </p:spPr>
      </p:pic>
      <p:grpSp>
        <p:nvGrpSpPr>
          <p:cNvPr name="Group 118" id="1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9" id="1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91900" y="1727200"/>
            <a:ext cx="1587500" cy="533400"/>
          </a:xfrm>
          <a:prstGeom prst="rect">
            <a:avLst/>
          </a:prstGeom>
        </p:spPr>
      </p:pic>
      <p:pic>
        <p:nvPicPr>
          <p:cNvPr name="Picture 120" id="12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645900" y="1854200"/>
            <a:ext cx="228600" cy="266700"/>
          </a:xfrm>
          <a:prstGeom prst="rect">
            <a:avLst/>
          </a:prstGeom>
        </p:spPr>
      </p:pic>
      <p:sp>
        <p:nvSpPr>
          <p:cNvPr name="TextBox 121" id="121"/>
          <p:cNvSpPr txBox="true"/>
          <p:nvPr/>
        </p:nvSpPr>
        <p:spPr>
          <a:xfrm rot="0">
            <a:off x="11950700" y="1828800"/>
            <a:ext cx="1028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BM DoHyeon"/>
              </a:rPr>
              <a:t>구축</a:t>
            </a:r>
          </a:p>
        </p:txBody>
      </p:sp>
      <p:pic>
        <p:nvPicPr>
          <p:cNvPr name="Picture 122" id="12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5400000">
            <a:off x="10248900" y="5867400"/>
            <a:ext cx="4330700" cy="762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849100" y="2921000"/>
            <a:ext cx="431800" cy="762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950700" y="2717800"/>
            <a:ext cx="1435100" cy="508000"/>
          </a:xfrm>
          <a:prstGeom prst="rect">
            <a:avLst/>
          </a:prstGeom>
        </p:spPr>
      </p:pic>
      <p:sp>
        <p:nvSpPr>
          <p:cNvPr name="TextBox 126" id="126"/>
          <p:cNvSpPr txBox="true"/>
          <p:nvPr/>
        </p:nvSpPr>
        <p:spPr>
          <a:xfrm rot="0">
            <a:off x="11988800" y="28321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소스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코드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grpSp>
        <p:nvGrpSpPr>
          <p:cNvPr name="Group 127" id="1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8" id="1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849100" y="3784600"/>
            <a:ext cx="431800" cy="76200"/>
          </a:xfrm>
          <a:prstGeom prst="rect">
            <a:avLst/>
          </a:prstGeom>
        </p:spPr>
      </p:pic>
      <p:pic>
        <p:nvPicPr>
          <p:cNvPr name="Picture 129" id="1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950700" y="3581400"/>
            <a:ext cx="1435100" cy="508000"/>
          </a:xfrm>
          <a:prstGeom prst="rect">
            <a:avLst/>
          </a:prstGeom>
        </p:spPr>
      </p:pic>
      <p:sp>
        <p:nvSpPr>
          <p:cNvPr name="TextBox 130" id="130"/>
          <p:cNvSpPr txBox="true"/>
          <p:nvPr/>
        </p:nvSpPr>
        <p:spPr>
          <a:xfrm rot="0">
            <a:off x="11988800" y="36957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테스트</a:t>
            </a:r>
          </a:p>
        </p:txBody>
      </p:sp>
      <p:grpSp>
        <p:nvGrpSpPr>
          <p:cNvPr name="Group 131" id="1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2" id="1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407900" y="4635500"/>
            <a:ext cx="431800" cy="76200"/>
          </a:xfrm>
          <a:prstGeom prst="rect">
            <a:avLst/>
          </a:prstGeom>
        </p:spPr>
      </p:pic>
      <p:pic>
        <p:nvPicPr>
          <p:cNvPr name="Picture 133" id="13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09500" y="4432300"/>
            <a:ext cx="1435100" cy="508000"/>
          </a:xfrm>
          <a:prstGeom prst="rect">
            <a:avLst/>
          </a:prstGeom>
        </p:spPr>
      </p:pic>
      <p:sp>
        <p:nvSpPr>
          <p:cNvPr name="TextBox 134" id="134"/>
          <p:cNvSpPr txBox="true"/>
          <p:nvPr/>
        </p:nvSpPr>
        <p:spPr>
          <a:xfrm rot="0">
            <a:off x="12547600" y="4432300"/>
            <a:ext cx="1333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테스트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시나리오</a:t>
            </a:r>
          </a:p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작성</a:t>
            </a:r>
          </a:p>
        </p:txBody>
      </p:sp>
      <p:grpSp>
        <p:nvGrpSpPr>
          <p:cNvPr name="Group 135" id="1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6" id="13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407900" y="5486400"/>
            <a:ext cx="431800" cy="76200"/>
          </a:xfrm>
          <a:prstGeom prst="rect">
            <a:avLst/>
          </a:prstGeom>
        </p:spPr>
      </p:pic>
      <p:pic>
        <p:nvPicPr>
          <p:cNvPr name="Picture 137" id="1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09500" y="5283200"/>
            <a:ext cx="1435100" cy="508000"/>
          </a:xfrm>
          <a:prstGeom prst="rect">
            <a:avLst/>
          </a:prstGeom>
        </p:spPr>
      </p:pic>
      <p:sp>
        <p:nvSpPr>
          <p:cNvPr name="TextBox 138" id="138"/>
          <p:cNvSpPr txBox="true"/>
          <p:nvPr/>
        </p:nvSpPr>
        <p:spPr>
          <a:xfrm rot="0">
            <a:off x="12547600" y="53975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테스트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기법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선정</a:t>
            </a:r>
          </a:p>
        </p:txBody>
      </p:sp>
      <p:grpSp>
        <p:nvGrpSpPr>
          <p:cNvPr name="Group 139" id="1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0" id="14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407900" y="6337300"/>
            <a:ext cx="431800" cy="762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09500" y="6134100"/>
            <a:ext cx="1435100" cy="508000"/>
          </a:xfrm>
          <a:prstGeom prst="rect">
            <a:avLst/>
          </a:prstGeom>
        </p:spPr>
      </p:pic>
      <p:sp>
        <p:nvSpPr>
          <p:cNvPr name="TextBox 142" id="142"/>
          <p:cNvSpPr txBox="true"/>
          <p:nvPr/>
        </p:nvSpPr>
        <p:spPr>
          <a:xfrm rot="0">
            <a:off x="12547600" y="6261100"/>
            <a:ext cx="1333500" cy="228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300" b="false" i="false" u="none" strike="noStrike">
                <a:solidFill>
                  <a:srgbClr val="FFFFFF"/>
                </a:solidFill>
                <a:ea typeface="NanumSquare ExtraBold"/>
              </a:rPr>
              <a:t>테스트</a:t>
            </a:r>
            <a:r>
              <a:rPr lang="en-US" sz="13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300" b="false" i="false" u="none" strike="noStrike">
                <a:solidFill>
                  <a:srgbClr val="FFFFFF"/>
                </a:solidFill>
                <a:ea typeface="NanumSquare ExtraBold"/>
              </a:rPr>
              <a:t>케이스</a:t>
            </a:r>
            <a:r>
              <a:rPr lang="en-US" sz="1300" b="false" i="false" u="none" strike="noStrike">
                <a:solidFill>
                  <a:srgbClr val="FFFFFF"/>
                </a:solidFill>
                <a:latin typeface="NanumSquare ExtraBold"/>
              </a:rPr>
              <a:t> </a:t>
            </a:r>
            <a:r>
              <a:rPr lang="ko-KR" sz="1300" b="false" i="false" u="none" strike="noStrike">
                <a:solidFill>
                  <a:srgbClr val="FFFFFF"/>
                </a:solidFill>
                <a:ea typeface="NanumSquare ExtraBold"/>
              </a:rPr>
              <a:t>설계</a:t>
            </a:r>
          </a:p>
        </p:txBody>
      </p:sp>
      <p:grpSp>
        <p:nvGrpSpPr>
          <p:cNvPr name="Group 143" id="1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4" id="14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407900" y="7175500"/>
            <a:ext cx="431800" cy="76200"/>
          </a:xfrm>
          <a:prstGeom prst="rect">
            <a:avLst/>
          </a:prstGeom>
        </p:spPr>
      </p:pic>
      <p:pic>
        <p:nvPicPr>
          <p:cNvPr name="Picture 145" id="14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09500" y="6985000"/>
            <a:ext cx="1435100" cy="508000"/>
          </a:xfrm>
          <a:prstGeom prst="rect">
            <a:avLst/>
          </a:prstGeom>
        </p:spPr>
      </p:pic>
      <p:sp>
        <p:nvSpPr>
          <p:cNvPr name="TextBox 146" id="146"/>
          <p:cNvSpPr txBox="true"/>
          <p:nvPr/>
        </p:nvSpPr>
        <p:spPr>
          <a:xfrm rot="0">
            <a:off x="12547600" y="70866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테스트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수행</a:t>
            </a:r>
          </a:p>
        </p:txBody>
      </p:sp>
      <p:grpSp>
        <p:nvGrpSpPr>
          <p:cNvPr name="Group 147" id="1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8" id="14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407900" y="8026400"/>
            <a:ext cx="431800" cy="76200"/>
          </a:xfrm>
          <a:prstGeom prst="rect">
            <a:avLst/>
          </a:prstGeom>
        </p:spPr>
      </p:pic>
      <p:pic>
        <p:nvPicPr>
          <p:cNvPr name="Picture 149" id="14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09500" y="7835900"/>
            <a:ext cx="1435100" cy="508000"/>
          </a:xfrm>
          <a:prstGeom prst="rect">
            <a:avLst/>
          </a:prstGeom>
        </p:spPr>
      </p:pic>
      <p:sp>
        <p:nvSpPr>
          <p:cNvPr name="TextBox 150" id="150"/>
          <p:cNvSpPr txBox="true"/>
          <p:nvPr/>
        </p:nvSpPr>
        <p:spPr>
          <a:xfrm rot="0">
            <a:off x="12547600" y="79375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테스트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평가</a:t>
            </a:r>
          </a:p>
        </p:txBody>
      </p:sp>
      <p:grpSp>
        <p:nvGrpSpPr>
          <p:cNvPr name="Group 151" id="1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2" id="15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16200000">
            <a:off x="15824200" y="4699000"/>
            <a:ext cx="774700" cy="76200"/>
          </a:xfrm>
          <a:prstGeom prst="rect">
            <a:avLst/>
          </a:prstGeom>
        </p:spPr>
      </p:pic>
      <p:pic>
        <p:nvPicPr>
          <p:cNvPr name="Picture 153" id="15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205200" y="5092700"/>
            <a:ext cx="431800" cy="76200"/>
          </a:xfrm>
          <a:prstGeom prst="rect">
            <a:avLst/>
          </a:prstGeom>
        </p:spPr>
      </p:pic>
      <p:pic>
        <p:nvPicPr>
          <p:cNvPr name="Picture 154" id="15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306800" y="4889500"/>
            <a:ext cx="1435100" cy="508000"/>
          </a:xfrm>
          <a:prstGeom prst="rect">
            <a:avLst/>
          </a:prstGeom>
        </p:spPr>
      </p:pic>
      <p:sp>
        <p:nvSpPr>
          <p:cNvPr name="TextBox 155" id="155"/>
          <p:cNvSpPr txBox="true"/>
          <p:nvPr/>
        </p:nvSpPr>
        <p:spPr>
          <a:xfrm rot="0">
            <a:off x="16357600" y="50038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사용자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교육</a:t>
            </a:r>
          </a:p>
        </p:txBody>
      </p:sp>
      <p:pic>
        <p:nvPicPr>
          <p:cNvPr name="Picture 156" id="15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16200000">
            <a:off x="15887700" y="3213100"/>
            <a:ext cx="774700" cy="76200"/>
          </a:xfrm>
          <a:prstGeom prst="rect">
            <a:avLst/>
          </a:prstGeom>
        </p:spPr>
      </p:pic>
      <p:pic>
        <p:nvPicPr>
          <p:cNvPr name="Picture 157" id="15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13233400" y="3771900"/>
            <a:ext cx="4470400" cy="76200"/>
          </a:xfrm>
          <a:prstGeom prst="rect">
            <a:avLst/>
          </a:prstGeom>
        </p:spPr>
      </p:pic>
      <p:pic>
        <p:nvPicPr>
          <p:cNvPr name="Picture 158" id="15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822700" y="1803400"/>
            <a:ext cx="355600" cy="342900"/>
          </a:xfrm>
          <a:prstGeom prst="rect">
            <a:avLst/>
          </a:prstGeom>
        </p:spPr>
      </p:pic>
      <p:grpSp>
        <p:nvGrpSpPr>
          <p:cNvPr name="Group 159" id="15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0" id="16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30400" y="1739900"/>
            <a:ext cx="1587500" cy="533400"/>
          </a:xfrm>
          <a:prstGeom prst="rect">
            <a:avLst/>
          </a:prstGeom>
        </p:spPr>
      </p:pic>
      <p:pic>
        <p:nvPicPr>
          <p:cNvPr name="Picture 161" id="16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0" y="1930400"/>
            <a:ext cx="228600" cy="139700"/>
          </a:xfrm>
          <a:prstGeom prst="rect">
            <a:avLst/>
          </a:prstGeom>
        </p:spPr>
      </p:pic>
      <p:sp>
        <p:nvSpPr>
          <p:cNvPr name="TextBox 162" id="162"/>
          <p:cNvSpPr txBox="true"/>
          <p:nvPr/>
        </p:nvSpPr>
        <p:spPr>
          <a:xfrm rot="0">
            <a:off x="15176500" y="1841500"/>
            <a:ext cx="1028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BM DoHyeon"/>
              </a:rPr>
              <a:t>이행</a:t>
            </a:r>
          </a:p>
        </p:txBody>
      </p:sp>
      <p:grpSp>
        <p:nvGrpSpPr>
          <p:cNvPr name="Group 163" id="16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4" id="16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55900" y="2895600"/>
            <a:ext cx="431800" cy="76200"/>
          </a:xfrm>
          <a:prstGeom prst="rect">
            <a:avLst/>
          </a:prstGeom>
        </p:spPr>
      </p:pic>
      <p:pic>
        <p:nvPicPr>
          <p:cNvPr name="Picture 165" id="16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57500" y="2692400"/>
            <a:ext cx="1435100" cy="508000"/>
          </a:xfrm>
          <a:prstGeom prst="rect">
            <a:avLst/>
          </a:prstGeom>
        </p:spPr>
      </p:pic>
      <p:sp>
        <p:nvSpPr>
          <p:cNvPr name="TextBox 166" id="166"/>
          <p:cNvSpPr txBox="true"/>
          <p:nvPr/>
        </p:nvSpPr>
        <p:spPr>
          <a:xfrm rot="0">
            <a:off x="15608300" y="28067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프로젝트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종료</a:t>
            </a:r>
          </a:p>
        </p:txBody>
      </p:sp>
      <p:grpSp>
        <p:nvGrpSpPr>
          <p:cNvPr name="Group 167" id="1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8" id="16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55900" y="4432300"/>
            <a:ext cx="431800" cy="76200"/>
          </a:xfrm>
          <a:prstGeom prst="rect">
            <a:avLst/>
          </a:prstGeom>
        </p:spPr>
      </p:pic>
      <p:pic>
        <p:nvPicPr>
          <p:cNvPr name="Picture 169" id="16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57500" y="4241800"/>
            <a:ext cx="1435100" cy="508000"/>
          </a:xfrm>
          <a:prstGeom prst="rect">
            <a:avLst/>
          </a:prstGeom>
        </p:spPr>
      </p:pic>
      <p:sp>
        <p:nvSpPr>
          <p:cNvPr name="TextBox 170" id="170"/>
          <p:cNvSpPr txBox="true"/>
          <p:nvPr/>
        </p:nvSpPr>
        <p:spPr>
          <a:xfrm rot="0">
            <a:off x="15608300" y="43434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프로그램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설명</a:t>
            </a:r>
          </a:p>
        </p:txBody>
      </p:sp>
      <p:grpSp>
        <p:nvGrpSpPr>
          <p:cNvPr name="Group 171" id="17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2" id="17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55900" y="5981700"/>
            <a:ext cx="431800" cy="76200"/>
          </a:xfrm>
          <a:prstGeom prst="rect">
            <a:avLst/>
          </a:prstGeom>
        </p:spPr>
      </p:pic>
      <p:pic>
        <p:nvPicPr>
          <p:cNvPr name="Picture 173" id="17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57500" y="5791200"/>
            <a:ext cx="1435100" cy="508000"/>
          </a:xfrm>
          <a:prstGeom prst="rect">
            <a:avLst/>
          </a:prstGeom>
        </p:spPr>
      </p:pic>
      <p:sp>
        <p:nvSpPr>
          <p:cNvPr name="TextBox 174" id="174"/>
          <p:cNvSpPr txBox="true"/>
          <p:nvPr/>
        </p:nvSpPr>
        <p:spPr>
          <a:xfrm rot="0">
            <a:off x="15608300" y="58928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유지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&amp;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보수</a:t>
            </a:r>
          </a:p>
        </p:txBody>
      </p:sp>
      <p:grpSp>
        <p:nvGrpSpPr>
          <p:cNvPr name="Group 175" id="17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6" id="17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268700" y="3594100"/>
            <a:ext cx="431800" cy="76200"/>
          </a:xfrm>
          <a:prstGeom prst="rect">
            <a:avLst/>
          </a:prstGeom>
        </p:spPr>
      </p:pic>
      <p:pic>
        <p:nvPicPr>
          <p:cNvPr name="Picture 177" id="17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370300" y="3390900"/>
            <a:ext cx="1435100" cy="508000"/>
          </a:xfrm>
          <a:prstGeom prst="rect">
            <a:avLst/>
          </a:prstGeom>
        </p:spPr>
      </p:pic>
      <p:sp>
        <p:nvSpPr>
          <p:cNvPr name="TextBox 178" id="178"/>
          <p:cNvSpPr txBox="true"/>
          <p:nvPr/>
        </p:nvSpPr>
        <p:spPr>
          <a:xfrm rot="0">
            <a:off x="16408400" y="3505200"/>
            <a:ext cx="133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8355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프로그램</a:t>
            </a:r>
            <a:r>
              <a:rPr lang="en-US" sz="15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NanumSquare ExtraBold"/>
              </a:rPr>
              <a:t>배포</a:t>
            </a:r>
          </a:p>
        </p:txBody>
      </p:sp>
      <p:grpSp>
        <p:nvGrpSpPr>
          <p:cNvPr name="Group 179" id="1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0" id="18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82600" y="292100"/>
            <a:ext cx="4064000" cy="647700"/>
          </a:xfrm>
          <a:prstGeom prst="rect">
            <a:avLst/>
          </a:prstGeom>
        </p:spPr>
      </p:pic>
      <p:sp>
        <p:nvSpPr>
          <p:cNvPr name="TextBox 181" id="181"/>
          <p:cNvSpPr txBox="true"/>
          <p:nvPr/>
        </p:nvSpPr>
        <p:spPr>
          <a:xfrm rot="0">
            <a:off x="1066800" y="431800"/>
            <a:ext cx="30099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4F565C"/>
                </a:solidFill>
                <a:latin typeface="NanumSquare ExtraBold"/>
              </a:rPr>
              <a:t>WBS</a:t>
            </a:r>
          </a:p>
        </p:txBody>
      </p:sp>
      <p:grpSp>
        <p:nvGrpSpPr>
          <p:cNvPr name="Group 182" id="1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3" id="18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723900" y="495300"/>
            <a:ext cx="228600" cy="241300"/>
          </a:xfrm>
          <a:prstGeom prst="rect">
            <a:avLst/>
          </a:prstGeom>
        </p:spPr>
      </p:pic>
      <p:pic>
        <p:nvPicPr>
          <p:cNvPr name="Picture 184" id="184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10800000">
            <a:off x="4127500" y="558800"/>
            <a:ext cx="1778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647700"/>
            <a:ext cx="18288000" cy="96393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762000000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0" y="63500"/>
            <a:ext cx="3149600" cy="508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556500" y="1651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500" b="false" i="false" u="none" strike="noStrike">
                <a:solidFill>
                  <a:srgbClr val="4F565C"/>
                </a:solidFill>
                <a:ea typeface="NanumSquare ExtraBold"/>
              </a:rPr>
              <a:t>간트차트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89800" y="215900"/>
            <a:ext cx="177800" cy="19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9931400" y="266700"/>
            <a:ext cx="1397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-3136900"/>
            <a:ext cx="19710400" cy="20078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23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40100" y="6731000"/>
            <a:ext cx="571500" cy="59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975100" y="6591300"/>
            <a:ext cx="1035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800" b="false" i="false" u="none" strike="noStrike">
                <a:solidFill>
                  <a:srgbClr val="4F565C"/>
                </a:solidFill>
                <a:ea typeface="NanumSquare ExtraBold"/>
              </a:rPr>
              <a:t>비용산정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7600" y="1955800"/>
            <a:ext cx="6985000" cy="1117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108200" y="2197100"/>
            <a:ext cx="51562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비용산정</a:t>
            </a:r>
          </a:p>
        </p:txBody>
      </p: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0" y="2298700"/>
            <a:ext cx="406400" cy="419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366000" y="2425700"/>
            <a:ext cx="317500" cy="177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6600" y="3467100"/>
            <a:ext cx="7823200" cy="51816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7600" y="3835400"/>
            <a:ext cx="6985000" cy="11176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108200" y="4076700"/>
            <a:ext cx="51562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개발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노력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&amp;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개발</a:t>
            </a:r>
            <a:r>
              <a:rPr lang="en-US" sz="3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3400" b="false" i="false" u="none" strike="noStrike">
                <a:solidFill>
                  <a:srgbClr val="4F565C"/>
                </a:solidFill>
                <a:ea typeface="NanumSquare ExtraBold"/>
              </a:rPr>
              <a:t>기간</a:t>
            </a:r>
          </a:p>
        </p:txBody>
      </p:sp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0" y="4191000"/>
            <a:ext cx="406400" cy="419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366000" y="4305300"/>
            <a:ext cx="317500" cy="1778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143000" y="5130800"/>
            <a:ext cx="6438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LOC = 93.0 * 42 = 3906LOC = 3.906KLOC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76962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개발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기간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: 9.58 / 5(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개발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인원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) = 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약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1.92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개월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(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약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 8</a:t>
            </a:r>
            <a:r>
              <a:rPr lang="ko-KR" sz="2400" b="false" i="false" u="none" strike="noStrike">
                <a:solidFill>
                  <a:srgbClr val="4F565C"/>
                </a:solidFill>
                <a:ea typeface="NanumSquare ExtraBold"/>
              </a:rPr>
              <a:t>주</a:t>
            </a:r>
            <a:r>
              <a:rPr lang="en-US" sz="2400" b="false" i="false" u="none" strike="noStrike">
                <a:solidFill>
                  <a:srgbClr val="4F565C"/>
                </a:solidFill>
                <a:latin typeface="NanumSquare ExtraBold"/>
              </a:rPr>
              <a:t>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000" y="6832600"/>
            <a:ext cx="5969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4F565C"/>
                </a:solidFill>
                <a:ea typeface="NanumSquare ExtraBold"/>
              </a:rPr>
              <a:t>개발</a:t>
            </a:r>
            <a:r>
              <a:rPr lang="en-US" sz="26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600" b="false" i="false" u="none" strike="noStrike">
                <a:solidFill>
                  <a:srgbClr val="4F565C"/>
                </a:solidFill>
                <a:ea typeface="NanumSquare ExtraBold"/>
              </a:rPr>
              <a:t>노력</a:t>
            </a:r>
            <a:r>
              <a:rPr lang="en-US" sz="2600" b="false" i="false" u="none" strike="noStrike">
                <a:solidFill>
                  <a:srgbClr val="4F565C"/>
                </a:solidFill>
                <a:latin typeface="NanumSquare ExtraBold"/>
              </a:rPr>
              <a:t>(M/M):                               = 9.58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3000" y="5969000"/>
            <a:ext cx="33147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600" b="false" i="false" u="none" strike="noStrike">
                <a:solidFill>
                  <a:srgbClr val="4F565C"/>
                </a:solidFill>
                <a:ea typeface="NanumSquare ExtraBold"/>
              </a:rPr>
              <a:t>기능</a:t>
            </a:r>
            <a:r>
              <a:rPr lang="en-US" sz="26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2600" b="false" i="false" u="none" strike="noStrike">
                <a:solidFill>
                  <a:srgbClr val="4F565C"/>
                </a:solidFill>
                <a:ea typeface="NanumSquare ExtraBold"/>
              </a:rPr>
              <a:t>점수</a:t>
            </a:r>
            <a:r>
              <a:rPr lang="en-US" sz="2600" b="false" i="false" u="none" strike="noStrike">
                <a:solidFill>
                  <a:srgbClr val="4F565C"/>
                </a:solidFill>
                <a:latin typeface="NanumSquare ExtraBold"/>
              </a:rPr>
              <a:t>(FP)  = 93.0</a:t>
            </a:r>
          </a:p>
        </p:txBody>
      </p: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5473700" y="8928100"/>
            <a:ext cx="7327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소프트웨어공학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83000" y="6845300"/>
            <a:ext cx="2209800" cy="4699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559800" y="1536700"/>
            <a:ext cx="9042400" cy="7099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9334500" y="3175000"/>
            <a:ext cx="31623000" cy="570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810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8750300" y="2933700"/>
            <a:ext cx="30822900" cy="570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4541500" y="6908800"/>
            <a:ext cx="431800" cy="241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